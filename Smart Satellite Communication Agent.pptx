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90" r:id="rId12"/>
    <p:sldId id="292" r:id="rId13"/>
    <p:sldId id="293" r:id="rId14"/>
    <p:sldId id="286" r:id="rId15"/>
    <p:sldId id="287" r:id="rId16"/>
    <p:sldId id="280" r:id="rId17"/>
    <p:sldId id="288" r:id="rId18"/>
    <p:sldId id="289" r:id="rId19"/>
    <p:sldId id="294"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4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2872007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havana-2203/Smart-Satellite-Communication"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kills.yourlearning.ibm.com/profile/preferenc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5920055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b="1" dirty="0" err="1" smtClean="0"/>
                        <a:t>Yenduru</a:t>
                      </a:r>
                      <a:r>
                        <a:rPr lang="en-US" b="1" baseline="0" dirty="0" smtClean="0"/>
                        <a:t> </a:t>
                      </a:r>
                      <a:r>
                        <a:rPr lang="en-US" b="1" dirty="0" err="1" smtClean="0"/>
                        <a:t>Bhavana</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200" b="1" dirty="0" smtClean="0"/>
                        <a:t>vallibhavana22@gmail.com</a:t>
                      </a:r>
                      <a:endParaRPr sz="12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b="1" dirty="0" smtClean="0"/>
                        <a:t>9390524452</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Education</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10672492"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Smart  Satellite Communication </a:t>
            </a:r>
            <a:r>
              <a:rPr lang="en-US" sz="2400" b="1" dirty="0">
                <a:highlight>
                  <a:srgbClr val="FFFF00"/>
                </a:highlight>
              </a:rPr>
              <a:t>K</a:t>
            </a:r>
            <a:r>
              <a:rPr lang="en-US" sz="2400" b="1" dirty="0" smtClean="0">
                <a:highlight>
                  <a:srgbClr val="FFFF00"/>
                </a:highlight>
              </a:rPr>
              <a:t>nowledge Assistant </a:t>
            </a:r>
            <a:endParaRPr lang="en-IN" sz="2400" b="1" dirty="0">
              <a:highlight>
                <a:srgbClr val="FFFF00"/>
              </a:highlight>
            </a:endParaRPr>
          </a:p>
        </p:txBody>
      </p:sp>
      <p:pic>
        <p:nvPicPr>
          <p:cNvPr id="9218" name="Picture 2" descr="C:\Users\HP\OneDrive\Pictures\Screenshots\Screenshot 2026-01-02 21323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7585" y="3689825"/>
            <a:ext cx="970232" cy="934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570756"/>
          </a:xfrm>
          <a:prstGeom prst="rect">
            <a:avLst/>
          </a:prstGeom>
          <a:noFill/>
        </p:spPr>
        <p:txBody>
          <a:bodyPr wrap="square" rtlCol="0">
            <a:spAutoFit/>
          </a:bodyPr>
          <a:lstStyle/>
          <a:p>
            <a:pPr fontAlgn="base"/>
            <a:r>
              <a:rPr lang="en-US" sz="1800" b="1" dirty="0" smtClean="0"/>
              <a:t>Problem Statement : </a:t>
            </a:r>
            <a:r>
              <a:rPr lang="en-US" sz="1800" b="1" dirty="0"/>
              <a:t>Smart Satellite Communication Knowledge Assistant </a:t>
            </a:r>
          </a:p>
          <a:p>
            <a:pPr fontAlgn="base"/>
            <a:r>
              <a:rPr lang="en-US" sz="1800" b="1" dirty="0" smtClean="0"/>
              <a:t>The Challenge</a:t>
            </a:r>
            <a:r>
              <a:rPr lang="en-US" sz="1800" dirty="0" smtClean="0"/>
              <a:t> </a:t>
            </a:r>
          </a:p>
          <a:p>
            <a:pPr fontAlgn="base"/>
            <a:r>
              <a:rPr lang="en-US" sz="1800" dirty="0"/>
              <a:t>Satellite communication systems involve complex concepts such as frequency bands, signal modulation, link budgets, and communication protocols. Engineers and students often struggle to understand these topics because the knowledge is distributed across textbooks, research papers, and technical documentation. Finding relevant information and troubleshooting communication issues can take significant time. The challenge is to build an intelligent assistant that can retrieve knowledge and explain satellite communication concepts in an easy and interactive manner</a:t>
            </a:r>
            <a:r>
              <a:rPr lang="en-US" sz="1800" dirty="0" smtClean="0"/>
              <a:t>.</a:t>
            </a:r>
          </a:p>
          <a:p>
            <a:pPr fontAlgn="base"/>
            <a:endParaRPr lang="en-US" sz="1800" dirty="0" smtClean="0"/>
          </a:p>
          <a:p>
            <a:pPr fontAlgn="base"/>
            <a:r>
              <a:rPr lang="en-US" sz="1800" b="1" dirty="0" smtClean="0"/>
              <a:t>The </a:t>
            </a:r>
            <a:r>
              <a:rPr lang="en-US" sz="1800" b="1" dirty="0"/>
              <a:t>Objective</a:t>
            </a:r>
            <a:r>
              <a:rPr lang="en-US" sz="1800" dirty="0"/>
              <a:t> </a:t>
            </a:r>
          </a:p>
          <a:p>
            <a:pPr fontAlgn="base"/>
            <a:r>
              <a:rPr lang="en-US" sz="1800" dirty="0"/>
              <a:t>Build a Satellite Communication Knowledge Assistant that helps users understand and troubleshoot satellite communication systems. The solution should</a:t>
            </a:r>
            <a:r>
              <a:rPr lang="en-US" sz="1800" dirty="0" smtClean="0"/>
              <a:t>:</a:t>
            </a:r>
          </a:p>
          <a:p>
            <a:pPr fontAlgn="base"/>
            <a:r>
              <a:rPr lang="en-US" sz="1800" dirty="0" smtClean="0"/>
              <a:t>1.</a:t>
            </a:r>
            <a:r>
              <a:rPr lang="en-US" sz="1800" b="1" dirty="0" smtClean="0"/>
              <a:t>Knowledge </a:t>
            </a:r>
            <a:r>
              <a:rPr lang="en-US" sz="1800" b="1" dirty="0"/>
              <a:t>Retrieval </a:t>
            </a:r>
            <a:r>
              <a:rPr lang="en-US" sz="1800" dirty="0"/>
              <a:t>:- Extract information from satellite communication documents and technical materials</a:t>
            </a:r>
            <a:r>
              <a:rPr lang="en-US" sz="1800" dirty="0" smtClean="0"/>
              <a:t>.</a:t>
            </a:r>
          </a:p>
          <a:p>
            <a:pPr fontAlgn="base"/>
            <a:r>
              <a:rPr lang="en-US" sz="1800" dirty="0" smtClean="0"/>
              <a:t>2.</a:t>
            </a:r>
            <a:r>
              <a:rPr lang="en-US" sz="1800" b="1" dirty="0" smtClean="0"/>
              <a:t>Concept </a:t>
            </a:r>
            <a:r>
              <a:rPr lang="en-US" sz="1800" b="1" dirty="0"/>
              <a:t>Explanation </a:t>
            </a:r>
            <a:r>
              <a:rPr lang="en-US" sz="1800" dirty="0"/>
              <a:t>:- Explain complex topics such as modulation techniques, frequency bands, and link budgets in simple language. </a:t>
            </a:r>
            <a:endParaRPr lang="en-US" sz="1800" dirty="0" smtClean="0"/>
          </a:p>
          <a:p>
            <a:pPr fontAlgn="base"/>
            <a:r>
              <a:rPr lang="en-US" sz="1800" dirty="0" smtClean="0"/>
              <a:t>3.</a:t>
            </a:r>
            <a:r>
              <a:rPr lang="en-US" sz="1800" b="1" dirty="0" smtClean="0"/>
              <a:t>Troubleshooting </a:t>
            </a:r>
            <a:r>
              <a:rPr lang="en-US" sz="1800" b="1" dirty="0"/>
              <a:t>Support </a:t>
            </a:r>
            <a:r>
              <a:rPr lang="en-US" sz="1800" dirty="0"/>
              <a:t>:- Provide guidance for solving satellite communication </a:t>
            </a:r>
            <a:r>
              <a:rPr lang="en-US" sz="1800" dirty="0" smtClean="0"/>
              <a:t>problems.</a:t>
            </a:r>
          </a:p>
          <a:p>
            <a:pPr fontAlgn="base"/>
            <a:r>
              <a:rPr lang="en-US" sz="1800" dirty="0" smtClean="0"/>
              <a:t>4.</a:t>
            </a:r>
            <a:r>
              <a:rPr lang="en-US" sz="1800" b="1" dirty="0" smtClean="0"/>
              <a:t>Conversational </a:t>
            </a:r>
            <a:r>
              <a:rPr lang="en-US" sz="1800" b="1" dirty="0"/>
              <a:t>Interface </a:t>
            </a:r>
            <a:r>
              <a:rPr lang="en-US" sz="1800" dirty="0"/>
              <a:t>:- Allow users to ask questions and receive responses through an interactive chat interface.</a:t>
            </a:r>
            <a:endParaRPr lang="en-US" sz="1800" dirty="0" smtClean="0"/>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4524315"/>
          </a:xfrm>
          <a:prstGeom prst="rect">
            <a:avLst/>
          </a:prstGeom>
          <a:noFill/>
        </p:spPr>
        <p:txBody>
          <a:bodyPr wrap="square" rtlCol="0">
            <a:spAutoFit/>
          </a:bodyPr>
          <a:lstStyle/>
          <a:p>
            <a:r>
              <a:rPr lang="en-US" sz="1800" b="1" dirty="0"/>
              <a:t>Solution</a:t>
            </a:r>
          </a:p>
          <a:p>
            <a:r>
              <a:rPr lang="en-US" sz="1800" dirty="0"/>
              <a:t>The proposed solution is an </a:t>
            </a:r>
            <a:r>
              <a:rPr lang="en-US" sz="1800" b="1" dirty="0"/>
              <a:t>AI-powered Satellite Communication Knowledge Assistant</a:t>
            </a:r>
            <a:r>
              <a:rPr lang="en-US" sz="1800" dirty="0"/>
              <a:t> that helps users understand satellite communication concepts, retrieve technical information, and troubleshoot communication issues through an interactive chat interface powered by </a:t>
            </a:r>
            <a:r>
              <a:rPr lang="en-US" sz="1800" b="1" dirty="0"/>
              <a:t>IBM Granite-4</a:t>
            </a:r>
            <a:r>
              <a:rPr lang="en-US" sz="1800" dirty="0"/>
              <a:t> and </a:t>
            </a:r>
            <a:r>
              <a:rPr lang="en-US" sz="1800" b="1" dirty="0" err="1"/>
              <a:t>WatsonX</a:t>
            </a:r>
            <a:r>
              <a:rPr lang="en-US" sz="1800" b="1" dirty="0"/>
              <a:t> AI</a:t>
            </a:r>
            <a:r>
              <a:rPr lang="en-US" sz="1800" dirty="0" smtClean="0"/>
              <a:t>.</a:t>
            </a:r>
          </a:p>
          <a:p>
            <a:endParaRPr lang="en-US" sz="1800" dirty="0"/>
          </a:p>
          <a:p>
            <a:r>
              <a:rPr lang="en-US" sz="1800" b="1" dirty="0"/>
              <a:t>Key Features</a:t>
            </a:r>
          </a:p>
          <a:p>
            <a:pPr marL="285750" indent="-285750">
              <a:buFont typeface="Arial" pitchFamily="34" charset="0"/>
              <a:buChar char="•"/>
            </a:pPr>
            <a:r>
              <a:rPr lang="en-US" sz="1800" b="1" dirty="0" smtClean="0"/>
              <a:t>Knowledge </a:t>
            </a:r>
            <a:r>
              <a:rPr lang="en-US" sz="1800" b="1" dirty="0"/>
              <a:t>Retrieval</a:t>
            </a:r>
            <a:r>
              <a:rPr lang="en-US" sz="1800" dirty="0"/>
              <a:t> – Retrieves relevant information from satellite communication resources. </a:t>
            </a:r>
          </a:p>
          <a:p>
            <a:pPr marL="285750" indent="-285750">
              <a:buFont typeface="Arial" pitchFamily="34" charset="0"/>
              <a:buChar char="•"/>
            </a:pPr>
            <a:r>
              <a:rPr lang="en-US" sz="1800" b="1" dirty="0" smtClean="0"/>
              <a:t>Concept </a:t>
            </a:r>
            <a:r>
              <a:rPr lang="en-US" sz="1800" b="1" dirty="0"/>
              <a:t>Explanation</a:t>
            </a:r>
            <a:r>
              <a:rPr lang="en-US" sz="1800" dirty="0"/>
              <a:t> – Simplifies complex topics like link budgets, frequency bands, and modulation. </a:t>
            </a:r>
          </a:p>
          <a:p>
            <a:pPr marL="285750" indent="-285750">
              <a:buFont typeface="Arial" pitchFamily="34" charset="0"/>
              <a:buChar char="•"/>
            </a:pPr>
            <a:r>
              <a:rPr lang="en-US" sz="1800" b="1" dirty="0" smtClean="0"/>
              <a:t>Troubleshooting </a:t>
            </a:r>
            <a:r>
              <a:rPr lang="en-US" sz="1800" b="1" dirty="0"/>
              <a:t>Support</a:t>
            </a:r>
            <a:r>
              <a:rPr lang="en-US" sz="1800" dirty="0"/>
              <a:t> – Provides guidance to identify and resolve communication issues. </a:t>
            </a:r>
          </a:p>
          <a:p>
            <a:pPr marL="285750" indent="-285750">
              <a:buFont typeface="Arial" pitchFamily="34" charset="0"/>
              <a:buChar char="•"/>
            </a:pPr>
            <a:r>
              <a:rPr lang="en-US" sz="1800" b="1" dirty="0" smtClean="0"/>
              <a:t>Conversational </a:t>
            </a:r>
            <a:r>
              <a:rPr lang="en-US" sz="1800" b="1" dirty="0"/>
              <a:t>Chat Interface</a:t>
            </a:r>
            <a:r>
              <a:rPr lang="en-US" sz="1800" dirty="0"/>
              <a:t> – Allows users to ask questions in natural language and receive instant responses. </a:t>
            </a:r>
          </a:p>
          <a:p>
            <a:pPr marL="285750" indent="-285750">
              <a:buFont typeface="Arial" pitchFamily="34" charset="0"/>
              <a:buChar char="•"/>
            </a:pPr>
            <a:r>
              <a:rPr lang="en-US" sz="1800" b="1" dirty="0" smtClean="0"/>
              <a:t>AI-Powered </a:t>
            </a:r>
            <a:r>
              <a:rPr lang="en-US" sz="1800" b="1" dirty="0"/>
              <a:t>Responses</a:t>
            </a:r>
            <a:r>
              <a:rPr lang="en-US" sz="1800" dirty="0"/>
              <a:t> – Uses IBM Granite-4 with </a:t>
            </a:r>
            <a:r>
              <a:rPr lang="en-US" sz="1800" dirty="0" err="1"/>
              <a:t>WatsonX</a:t>
            </a:r>
            <a:r>
              <a:rPr lang="en-US" sz="1800" dirty="0"/>
              <a:t> AI to generate accurate, context-aware answers.</a:t>
            </a:r>
          </a:p>
          <a:p>
            <a:endParaRPr lang="en-IN" sz="1800"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3570208"/>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2988" y="1885948"/>
            <a:ext cx="800662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86" y="1122363"/>
            <a:ext cx="9801214" cy="478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680" y="933450"/>
            <a:ext cx="9890760" cy="523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962" y="1026390"/>
            <a:ext cx="9167149" cy="5424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t>
            </a:r>
            <a:r>
              <a:rPr lang="en-US" sz="3200" b="1" dirty="0" err="1"/>
              <a:t>Agentic</a:t>
            </a:r>
            <a:r>
              <a:rPr lang="en-US" sz="3200" b="1" dirty="0"/>
              <a:t>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4801314"/>
          </a:xfrm>
          <a:prstGeom prst="rect">
            <a:avLst/>
          </a:prstGeom>
          <a:noFill/>
        </p:spPr>
        <p:txBody>
          <a:bodyPr wrap="square" rtlCol="0">
            <a:spAutoFit/>
          </a:bodyPr>
          <a:lstStyle/>
          <a:p>
            <a:r>
              <a:rPr lang="en-US" sz="1800" b="1" dirty="0"/>
              <a:t>Role of </a:t>
            </a:r>
            <a:r>
              <a:rPr lang="en-US" sz="1800" b="1" dirty="0" err="1"/>
              <a:t>Agentic</a:t>
            </a:r>
            <a:r>
              <a:rPr lang="en-US" sz="1800" b="1" dirty="0"/>
              <a:t> AI in </a:t>
            </a:r>
            <a:r>
              <a:rPr lang="en-US" sz="1800" b="1" dirty="0" smtClean="0"/>
              <a:t>Satellite Communication</a:t>
            </a:r>
            <a:r>
              <a:rPr lang="en-US" sz="1800" b="1" dirty="0" smtClean="0"/>
              <a:t> Agent</a:t>
            </a:r>
          </a:p>
          <a:p>
            <a:endParaRPr lang="en-US" sz="1800" b="1" dirty="0"/>
          </a:p>
          <a:p>
            <a:pPr marL="285750" indent="-285750">
              <a:buFont typeface="Arial" pitchFamily="34" charset="0"/>
              <a:buChar char="•"/>
            </a:pPr>
            <a:r>
              <a:rPr lang="en-US" sz="1800" b="1" dirty="0"/>
              <a:t>Understands User Intent</a:t>
            </a:r>
            <a:r>
              <a:rPr lang="en-US" sz="1800" dirty="0"/>
              <a:t> – Interprets user queries and identifies the required satellite communication concept. </a:t>
            </a:r>
            <a:endParaRPr lang="en-US" sz="1800" dirty="0" smtClean="0"/>
          </a:p>
          <a:p>
            <a:pPr marL="285750" indent="-285750">
              <a:buFont typeface="Arial" pitchFamily="34" charset="0"/>
              <a:buChar char="•"/>
            </a:pPr>
            <a:endParaRPr lang="en-US" sz="1800" dirty="0" smtClean="0"/>
          </a:p>
          <a:p>
            <a:pPr marL="285750" indent="-285750">
              <a:buFont typeface="Arial" pitchFamily="34" charset="0"/>
              <a:buChar char="•"/>
            </a:pPr>
            <a:r>
              <a:rPr lang="en-US" sz="1800" b="1" dirty="0" smtClean="0"/>
              <a:t>Intelligent </a:t>
            </a:r>
            <a:r>
              <a:rPr lang="en-US" sz="1800" b="1" dirty="0"/>
              <a:t>Knowledge Retrieval</a:t>
            </a:r>
            <a:r>
              <a:rPr lang="en-US" sz="1800" dirty="0"/>
              <a:t> – Retrieves the most relevant information from the knowledge base using RAG. </a:t>
            </a:r>
            <a:endParaRPr lang="en-US" sz="1800" dirty="0" smtClean="0"/>
          </a:p>
          <a:p>
            <a:pPr marL="285750" indent="-285750">
              <a:buFont typeface="Arial" pitchFamily="34" charset="0"/>
              <a:buChar char="•"/>
            </a:pPr>
            <a:endParaRPr lang="en-US" sz="1800" dirty="0" smtClean="0"/>
          </a:p>
          <a:p>
            <a:pPr marL="285750" indent="-285750">
              <a:buFont typeface="Arial" pitchFamily="34" charset="0"/>
              <a:buChar char="•"/>
            </a:pPr>
            <a:r>
              <a:rPr lang="en-US" sz="1800" b="1" dirty="0" smtClean="0"/>
              <a:t>Context-Aware </a:t>
            </a:r>
            <a:r>
              <a:rPr lang="en-US" sz="1800" b="1" dirty="0"/>
              <a:t>Responses</a:t>
            </a:r>
            <a:r>
              <a:rPr lang="en-US" sz="1800" dirty="0"/>
              <a:t> – Generates accurate, easy-to-understand explanations based on the retrieved content</a:t>
            </a:r>
            <a:r>
              <a:rPr lang="en-US" sz="1800" dirty="0" smtClean="0"/>
              <a:t>.</a:t>
            </a:r>
          </a:p>
          <a:p>
            <a:pPr marL="285750" indent="-285750">
              <a:buFont typeface="Arial" pitchFamily="34" charset="0"/>
              <a:buChar char="•"/>
            </a:pPr>
            <a:endParaRPr lang="en-US" sz="1800" dirty="0" smtClean="0"/>
          </a:p>
          <a:p>
            <a:pPr marL="285750" indent="-285750">
              <a:buFont typeface="Arial" pitchFamily="34" charset="0"/>
              <a:buChar char="•"/>
            </a:pPr>
            <a:r>
              <a:rPr lang="en-US" sz="1800" b="1" dirty="0" smtClean="0"/>
              <a:t>Troubleshooting </a:t>
            </a:r>
            <a:r>
              <a:rPr lang="en-US" sz="1800" b="1" dirty="0"/>
              <a:t>Assistance</a:t>
            </a:r>
            <a:r>
              <a:rPr lang="en-US" sz="1800" dirty="0"/>
              <a:t> – Analyzes communication issues and provides step-by-step guidance to resolve them. </a:t>
            </a:r>
            <a:endParaRPr lang="en-US" sz="1800" dirty="0" smtClean="0"/>
          </a:p>
          <a:p>
            <a:pPr marL="285750" indent="-285750">
              <a:buFont typeface="Arial" pitchFamily="34" charset="0"/>
              <a:buChar char="•"/>
            </a:pPr>
            <a:endParaRPr lang="en-US" sz="1800" dirty="0"/>
          </a:p>
          <a:p>
            <a:pPr marL="285750" indent="-285750">
              <a:buFont typeface="Arial" pitchFamily="34" charset="0"/>
              <a:buChar char="•"/>
            </a:pPr>
            <a:r>
              <a:rPr lang="en-US" sz="1800" b="1" dirty="0" smtClean="0"/>
              <a:t>Interactive </a:t>
            </a:r>
            <a:r>
              <a:rPr lang="en-US" sz="1800" b="1" dirty="0"/>
              <a:t>Decision Support</a:t>
            </a:r>
            <a:r>
              <a:rPr lang="en-US" sz="1800" dirty="0"/>
              <a:t> – Maintains conversational context and delivers personalized responses for an enhanced learning experience.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755" y="901635"/>
            <a:ext cx="9422644" cy="4720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075" y="1201797"/>
            <a:ext cx="9635925" cy="4611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724" y="1015836"/>
            <a:ext cx="9820686" cy="4688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0670122" cy="4708981"/>
          </a:xfrm>
          <a:prstGeom prst="rect">
            <a:avLst/>
          </a:prstGeom>
          <a:noFill/>
        </p:spPr>
        <p:txBody>
          <a:bodyPr wrap="square" rtlCol="0">
            <a:spAutoFit/>
          </a:bodyPr>
          <a:lstStyle/>
          <a:p>
            <a:pPr marL="285750" indent="-285750">
              <a:buFont typeface="Arial" pitchFamily="34" charset="0"/>
              <a:buChar char="•"/>
            </a:pPr>
            <a:r>
              <a:rPr lang="en-US" sz="2000" b="1" dirty="0" smtClean="0">
                <a:latin typeface="+mn-lt"/>
              </a:rPr>
              <a:t>AI-Powered Learning Assistant </a:t>
            </a:r>
            <a:r>
              <a:rPr lang="en-US" sz="2000" dirty="0" smtClean="0">
                <a:latin typeface="+mn-lt"/>
              </a:rPr>
              <a:t>- </a:t>
            </a:r>
            <a:r>
              <a:rPr lang="en-US" sz="2000" dirty="0">
                <a:latin typeface="+mn-lt"/>
              </a:rPr>
              <a:t>Uses IBM Granite-4 and </a:t>
            </a:r>
            <a:r>
              <a:rPr lang="en-US" sz="2000" dirty="0" err="1">
                <a:latin typeface="+mn-lt"/>
              </a:rPr>
              <a:t>WatsonX</a:t>
            </a:r>
            <a:r>
              <a:rPr lang="en-US" sz="2000" dirty="0">
                <a:latin typeface="+mn-lt"/>
              </a:rPr>
              <a:t> AI to deliver intelligent, context-aware responses instead of static information</a:t>
            </a:r>
            <a:r>
              <a:rPr lang="en-US" sz="2000" dirty="0" smtClean="0">
                <a:latin typeface="+mn-lt"/>
              </a:rPr>
              <a:t>.</a:t>
            </a:r>
          </a:p>
          <a:p>
            <a:pPr marL="285750" indent="-285750">
              <a:buFont typeface="Arial" pitchFamily="34" charset="0"/>
              <a:buChar char="•"/>
            </a:pPr>
            <a:endParaRPr lang="en-US" sz="2000" dirty="0" smtClean="0">
              <a:latin typeface="+mn-lt"/>
            </a:endParaRPr>
          </a:p>
          <a:p>
            <a:pPr marL="285750" indent="-285750">
              <a:buFont typeface="Arial" pitchFamily="34" charset="0"/>
              <a:buChar char="•"/>
            </a:pPr>
            <a:r>
              <a:rPr lang="en-US" sz="2000" b="1" dirty="0" smtClean="0">
                <a:latin typeface="+mn-lt"/>
              </a:rPr>
              <a:t>Technical </a:t>
            </a:r>
            <a:r>
              <a:rPr lang="en-US" sz="2000" b="1" dirty="0">
                <a:latin typeface="+mn-lt"/>
              </a:rPr>
              <a:t>Knowledge in Simple Language </a:t>
            </a:r>
            <a:r>
              <a:rPr lang="en-US" sz="2000" dirty="0" smtClean="0">
                <a:latin typeface="+mn-lt"/>
              </a:rPr>
              <a:t>- </a:t>
            </a:r>
            <a:r>
              <a:rPr lang="en-US" sz="2000" dirty="0">
                <a:latin typeface="+mn-lt"/>
              </a:rPr>
              <a:t>Converts complex satellite communication concepts into easy-to-understand explanations for learners and professionals</a:t>
            </a:r>
            <a:r>
              <a:rPr lang="en-US" sz="2000" dirty="0" smtClean="0">
                <a:latin typeface="+mn-lt"/>
              </a:rPr>
              <a:t>.</a:t>
            </a:r>
          </a:p>
          <a:p>
            <a:pPr marL="285750" indent="-285750">
              <a:buFont typeface="Arial" pitchFamily="34" charset="0"/>
              <a:buChar char="•"/>
            </a:pPr>
            <a:endParaRPr lang="en-US" sz="2000" dirty="0" smtClean="0">
              <a:latin typeface="+mn-lt"/>
            </a:endParaRPr>
          </a:p>
          <a:p>
            <a:pPr marL="285750" indent="-285750">
              <a:buFont typeface="Arial" pitchFamily="34" charset="0"/>
              <a:buChar char="•"/>
            </a:pPr>
            <a:r>
              <a:rPr lang="en-US" sz="2000" b="1" dirty="0" smtClean="0">
                <a:latin typeface="+mn-lt"/>
              </a:rPr>
              <a:t>Interactive </a:t>
            </a:r>
            <a:r>
              <a:rPr lang="en-US" sz="2000" b="1" dirty="0">
                <a:latin typeface="+mn-lt"/>
              </a:rPr>
              <a:t>Conversational Experience </a:t>
            </a:r>
            <a:r>
              <a:rPr lang="en-US" sz="2000" dirty="0">
                <a:latin typeface="+mn-lt"/>
              </a:rPr>
              <a:t>-</a:t>
            </a:r>
            <a:r>
              <a:rPr lang="en-US" sz="2000" dirty="0" smtClean="0">
                <a:latin typeface="+mn-lt"/>
              </a:rPr>
              <a:t> </a:t>
            </a:r>
            <a:r>
              <a:rPr lang="en-US" sz="2000" dirty="0">
                <a:latin typeface="+mn-lt"/>
              </a:rPr>
              <a:t>Users can ask questions naturally and receive instant, personalized answers through a chat interface</a:t>
            </a:r>
            <a:r>
              <a:rPr lang="en-US" sz="2000" dirty="0" smtClean="0">
                <a:latin typeface="+mn-lt"/>
              </a:rPr>
              <a:t>.</a:t>
            </a:r>
          </a:p>
          <a:p>
            <a:pPr marL="285750" indent="-285750">
              <a:buFont typeface="Arial" pitchFamily="34" charset="0"/>
              <a:buChar char="•"/>
            </a:pPr>
            <a:endParaRPr lang="en-US" sz="2000" dirty="0" smtClean="0">
              <a:latin typeface="+mn-lt"/>
            </a:endParaRPr>
          </a:p>
          <a:p>
            <a:pPr marL="285750" indent="-285750">
              <a:buFont typeface="Arial" pitchFamily="34" charset="0"/>
              <a:buChar char="•"/>
            </a:pPr>
            <a:r>
              <a:rPr lang="en-US" sz="2000" b="1" dirty="0" smtClean="0">
                <a:latin typeface="+mn-lt"/>
              </a:rPr>
              <a:t>Knowledge </a:t>
            </a:r>
            <a:r>
              <a:rPr lang="en-US" sz="2000" b="1" dirty="0">
                <a:latin typeface="+mn-lt"/>
              </a:rPr>
              <a:t>+ Troubleshooting in One Platform </a:t>
            </a:r>
            <a:r>
              <a:rPr lang="en-US" sz="2000" dirty="0" smtClean="0">
                <a:latin typeface="+mn-lt"/>
              </a:rPr>
              <a:t>- </a:t>
            </a:r>
            <a:r>
              <a:rPr lang="en-US" sz="2000" dirty="0">
                <a:latin typeface="+mn-lt"/>
              </a:rPr>
              <a:t>Combines concept learning with practical troubleshooting guidance, reducing the need to consult multiple resources</a:t>
            </a:r>
            <a:r>
              <a:rPr lang="en-US" sz="2000" dirty="0" smtClean="0">
                <a:latin typeface="+mn-lt"/>
              </a:rPr>
              <a:t>.</a:t>
            </a:r>
          </a:p>
          <a:p>
            <a:pPr marL="285750" indent="-285750">
              <a:buFont typeface="Arial" pitchFamily="34" charset="0"/>
              <a:buChar char="•"/>
            </a:pPr>
            <a:endParaRPr lang="en-US" sz="2000" dirty="0" smtClean="0">
              <a:latin typeface="+mn-lt"/>
            </a:endParaRPr>
          </a:p>
          <a:p>
            <a:pPr marL="285750" indent="-285750">
              <a:buFont typeface="Arial" pitchFamily="34" charset="0"/>
              <a:buChar char="•"/>
            </a:pPr>
            <a:r>
              <a:rPr lang="en-US" sz="2000" b="1" dirty="0" smtClean="0">
                <a:latin typeface="+mn-lt"/>
              </a:rPr>
              <a:t>Fast </a:t>
            </a:r>
            <a:r>
              <a:rPr lang="en-US" sz="2000" b="1" dirty="0">
                <a:latin typeface="+mn-lt"/>
              </a:rPr>
              <a:t>&amp; Efficient Information Retrieval </a:t>
            </a:r>
            <a:r>
              <a:rPr lang="en-US" sz="2000" dirty="0" smtClean="0">
                <a:latin typeface="+mn-lt"/>
              </a:rPr>
              <a:t>- </a:t>
            </a:r>
            <a:r>
              <a:rPr lang="en-US" sz="2000" dirty="0">
                <a:latin typeface="+mn-lt"/>
              </a:rPr>
              <a:t>Quickly accesses relevant satellite communication knowledge, saving time compared to searching manuals and research papers.</a:t>
            </a:r>
            <a:endParaRPr lang="en-IN" sz="2000" dirty="0">
              <a:latin typeface="+mn-lt"/>
            </a:endParaRP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056678" y="61749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790320"/>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err="1" smtClean="0">
                <a:solidFill>
                  <a:srgbClr val="2B3541"/>
                </a:solidFill>
                <a:latin typeface="+mn-lt"/>
                <a:ea typeface="Times New Roman"/>
                <a:cs typeface="Times New Roman"/>
                <a:sym typeface="Times New Roman"/>
              </a:rPr>
              <a:t>Github</a:t>
            </a:r>
            <a:r>
              <a:rPr lang="en-US" sz="2000" b="1" dirty="0" smtClean="0">
                <a:solidFill>
                  <a:srgbClr val="2B3541"/>
                </a:solidFill>
                <a:latin typeface="+mn-lt"/>
                <a:ea typeface="Times New Roman"/>
                <a:cs typeface="Times New Roman"/>
                <a:sym typeface="Times New Roman"/>
              </a:rPr>
              <a:t> </a:t>
            </a:r>
            <a:r>
              <a:rPr lang="en-US" sz="2000" b="1" dirty="0">
                <a:solidFill>
                  <a:srgbClr val="2B3541"/>
                </a:solidFill>
                <a:latin typeface="+mn-lt"/>
                <a:ea typeface="Times New Roman"/>
                <a:cs typeface="Times New Roman"/>
                <a:sym typeface="Times New Roman"/>
              </a:rPr>
              <a:t>URL </a:t>
            </a:r>
            <a:r>
              <a:rPr lang="en-US" sz="2000" b="1" dirty="0" smtClean="0">
                <a:solidFill>
                  <a:srgbClr val="2B3541"/>
                </a:solidFill>
                <a:latin typeface="+mn-lt"/>
                <a:ea typeface="Times New Roman"/>
                <a:cs typeface="Times New Roman"/>
                <a:sym typeface="Times New Roman"/>
              </a:rPr>
              <a:t>–</a:t>
            </a:r>
            <a:br>
              <a:rPr lang="en-US" sz="2000" b="1" dirty="0" smtClean="0">
                <a:solidFill>
                  <a:srgbClr val="2B3541"/>
                </a:solidFill>
                <a:latin typeface="+mn-lt"/>
                <a:ea typeface="Times New Roman"/>
                <a:cs typeface="Times New Roman"/>
                <a:sym typeface="Times New Roman"/>
              </a:rPr>
            </a:br>
            <a:r>
              <a:rPr lang="en-US" sz="2000" dirty="0" smtClean="0">
                <a:solidFill>
                  <a:srgbClr val="2B3541"/>
                </a:solidFill>
                <a:latin typeface="+mn-lt"/>
                <a:ea typeface="Times New Roman"/>
                <a:cs typeface="Times New Roman"/>
                <a:sym typeface="Times New Roman"/>
                <a:hlinkClick r:id="rId3"/>
              </a:rPr>
              <a:t>https://github.com/bhavana-2203/Smart-Satellite-Communication</a:t>
            </a:r>
            <a:endParaRPr lang="en-US" sz="2000" dirty="0">
              <a:solidFill>
                <a:srgbClr val="2B3541"/>
              </a:solidFill>
              <a:latin typeface="+mn-lt"/>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111383" y="1386443"/>
            <a:ext cx="9214580" cy="4713593"/>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itchFamily="34" charset="0"/>
              <a:buChar char="•"/>
            </a:pPr>
            <a:r>
              <a:rPr lang="en-US" sz="1850" b="1" dirty="0">
                <a:latin typeface="+mn-lt"/>
                <a:ea typeface="Times New Roman"/>
                <a:cs typeface="Times New Roman"/>
                <a:sym typeface="Times New Roman"/>
              </a:rPr>
              <a:t>Expand Knowledge Base </a:t>
            </a:r>
            <a:r>
              <a:rPr lang="en-US" sz="1850" dirty="0" smtClean="0">
                <a:latin typeface="+mn-lt"/>
                <a:ea typeface="Times New Roman"/>
                <a:cs typeface="Times New Roman"/>
                <a:sym typeface="Times New Roman"/>
              </a:rPr>
              <a:t>- </a:t>
            </a:r>
            <a:r>
              <a:rPr lang="en-US" sz="1850" dirty="0">
                <a:latin typeface="+mn-lt"/>
                <a:ea typeface="Times New Roman"/>
                <a:cs typeface="Times New Roman"/>
                <a:sym typeface="Times New Roman"/>
              </a:rPr>
              <a:t>Integrate more satellite communication standards, research papers, and technical </a:t>
            </a:r>
            <a:r>
              <a:rPr lang="en-US" sz="1850" dirty="0" smtClean="0">
                <a:latin typeface="+mn-lt"/>
                <a:ea typeface="Times New Roman"/>
                <a:cs typeface="Times New Roman"/>
                <a:sym typeface="Times New Roman"/>
              </a:rPr>
              <a:t>documentation.</a:t>
            </a:r>
          </a:p>
          <a:p>
            <a:pPr marL="342900" lvl="0" indent="-342900">
              <a:lnSpc>
                <a:spcPct val="162162"/>
              </a:lnSpc>
              <a:buClr>
                <a:srgbClr val="2B3541"/>
              </a:buClr>
              <a:buSzPts val="1850"/>
              <a:buFont typeface="Arial" pitchFamily="34" charset="0"/>
              <a:buChar char="•"/>
            </a:pPr>
            <a:r>
              <a:rPr lang="en-US" sz="1850" b="1" dirty="0" smtClean="0">
                <a:latin typeface="+mn-lt"/>
                <a:ea typeface="Times New Roman"/>
                <a:cs typeface="Times New Roman"/>
                <a:sym typeface="Times New Roman"/>
              </a:rPr>
              <a:t>Real-Time </a:t>
            </a:r>
            <a:r>
              <a:rPr lang="en-US" sz="1850" b="1" dirty="0">
                <a:latin typeface="+mn-lt"/>
                <a:ea typeface="Times New Roman"/>
                <a:cs typeface="Times New Roman"/>
                <a:sym typeface="Times New Roman"/>
              </a:rPr>
              <a:t>Satellite Data </a:t>
            </a:r>
            <a:r>
              <a:rPr lang="en-US" sz="1850" dirty="0" smtClean="0">
                <a:latin typeface="+mn-lt"/>
                <a:ea typeface="Times New Roman"/>
                <a:cs typeface="Times New Roman"/>
                <a:sym typeface="Times New Roman"/>
              </a:rPr>
              <a:t>- </a:t>
            </a:r>
            <a:r>
              <a:rPr lang="en-US" sz="1850" dirty="0">
                <a:latin typeface="+mn-lt"/>
                <a:ea typeface="Times New Roman"/>
                <a:cs typeface="Times New Roman"/>
                <a:sym typeface="Times New Roman"/>
              </a:rPr>
              <a:t>Connect with live satellite telemetry and tracking APIs for up-to-date </a:t>
            </a:r>
            <a:r>
              <a:rPr lang="en-US" sz="1850" dirty="0" smtClean="0">
                <a:latin typeface="+mn-lt"/>
                <a:ea typeface="Times New Roman"/>
                <a:cs typeface="Times New Roman"/>
                <a:sym typeface="Times New Roman"/>
              </a:rPr>
              <a:t>information.</a:t>
            </a:r>
          </a:p>
          <a:p>
            <a:pPr marL="342900" lvl="0" indent="-342900">
              <a:lnSpc>
                <a:spcPct val="162162"/>
              </a:lnSpc>
              <a:buClr>
                <a:srgbClr val="2B3541"/>
              </a:buClr>
              <a:buSzPts val="1850"/>
              <a:buFont typeface="Arial" pitchFamily="34" charset="0"/>
              <a:buChar char="•"/>
            </a:pPr>
            <a:r>
              <a:rPr lang="en-US" sz="1850" b="1" dirty="0" smtClean="0">
                <a:latin typeface="+mn-lt"/>
                <a:ea typeface="Times New Roman"/>
                <a:cs typeface="Times New Roman"/>
                <a:sym typeface="Times New Roman"/>
              </a:rPr>
              <a:t>Multilingual </a:t>
            </a:r>
            <a:r>
              <a:rPr lang="en-US" sz="1850" b="1" dirty="0">
                <a:latin typeface="+mn-lt"/>
                <a:ea typeface="Times New Roman"/>
                <a:cs typeface="Times New Roman"/>
                <a:sym typeface="Times New Roman"/>
              </a:rPr>
              <a:t>Support </a:t>
            </a:r>
            <a:r>
              <a:rPr lang="en-US" sz="1850" dirty="0" smtClean="0">
                <a:latin typeface="+mn-lt"/>
                <a:ea typeface="Times New Roman"/>
                <a:cs typeface="Times New Roman"/>
                <a:sym typeface="Times New Roman"/>
              </a:rPr>
              <a:t>- </a:t>
            </a:r>
            <a:r>
              <a:rPr lang="en-US" sz="1850" dirty="0">
                <a:latin typeface="+mn-lt"/>
                <a:ea typeface="Times New Roman"/>
                <a:cs typeface="Times New Roman"/>
                <a:sym typeface="Times New Roman"/>
              </a:rPr>
              <a:t>Enable users to interact with the assistant in multiple </a:t>
            </a:r>
            <a:r>
              <a:rPr lang="en-US" sz="1850" dirty="0" smtClean="0">
                <a:latin typeface="+mn-lt"/>
                <a:ea typeface="Times New Roman"/>
                <a:cs typeface="Times New Roman"/>
                <a:sym typeface="Times New Roman"/>
              </a:rPr>
              <a:t>languages.</a:t>
            </a:r>
          </a:p>
          <a:p>
            <a:pPr marL="342900" lvl="0" indent="-342900">
              <a:lnSpc>
                <a:spcPct val="162162"/>
              </a:lnSpc>
              <a:buClr>
                <a:srgbClr val="2B3541"/>
              </a:buClr>
              <a:buSzPts val="1850"/>
              <a:buFont typeface="Arial" pitchFamily="34" charset="0"/>
              <a:buChar char="•"/>
            </a:pPr>
            <a:r>
              <a:rPr lang="en-US" sz="1850" b="1" dirty="0" smtClean="0">
                <a:latin typeface="+mn-lt"/>
                <a:ea typeface="Times New Roman"/>
                <a:cs typeface="Times New Roman"/>
                <a:sym typeface="Times New Roman"/>
              </a:rPr>
              <a:t>Voice-Based </a:t>
            </a:r>
            <a:r>
              <a:rPr lang="en-US" sz="1850" b="1" dirty="0">
                <a:latin typeface="+mn-lt"/>
                <a:ea typeface="Times New Roman"/>
                <a:cs typeface="Times New Roman"/>
                <a:sym typeface="Times New Roman"/>
              </a:rPr>
              <a:t>Assistant </a:t>
            </a:r>
            <a:r>
              <a:rPr lang="en-US" sz="1850" dirty="0" smtClean="0">
                <a:latin typeface="+mn-lt"/>
                <a:ea typeface="Times New Roman"/>
                <a:cs typeface="Times New Roman"/>
                <a:sym typeface="Times New Roman"/>
              </a:rPr>
              <a:t>- </a:t>
            </a:r>
            <a:r>
              <a:rPr lang="en-US" sz="1850" dirty="0">
                <a:latin typeface="+mn-lt"/>
                <a:ea typeface="Times New Roman"/>
                <a:cs typeface="Times New Roman"/>
                <a:sym typeface="Times New Roman"/>
              </a:rPr>
              <a:t>Add speech recognition and text-to-speech for hands-free </a:t>
            </a:r>
            <a:r>
              <a:rPr lang="en-US" sz="1850" dirty="0" smtClean="0">
                <a:latin typeface="+mn-lt"/>
                <a:ea typeface="Times New Roman"/>
                <a:cs typeface="Times New Roman"/>
                <a:sym typeface="Times New Roman"/>
              </a:rPr>
              <a:t>interaction.</a:t>
            </a:r>
          </a:p>
          <a:p>
            <a:pPr marL="342900" lvl="0" indent="-342900">
              <a:lnSpc>
                <a:spcPct val="162162"/>
              </a:lnSpc>
              <a:buClr>
                <a:srgbClr val="2B3541"/>
              </a:buClr>
              <a:buSzPts val="1850"/>
              <a:buFont typeface="Arial" pitchFamily="34" charset="0"/>
              <a:buChar char="•"/>
            </a:pPr>
            <a:r>
              <a:rPr lang="en-US" sz="1850" b="1" dirty="0" smtClean="0">
                <a:latin typeface="+mn-lt"/>
                <a:ea typeface="Times New Roman"/>
                <a:cs typeface="Times New Roman"/>
                <a:sym typeface="Times New Roman"/>
              </a:rPr>
              <a:t>Advanced </a:t>
            </a:r>
            <a:r>
              <a:rPr lang="en-US" sz="1850" b="1" dirty="0">
                <a:latin typeface="+mn-lt"/>
                <a:ea typeface="Times New Roman"/>
                <a:cs typeface="Times New Roman"/>
                <a:sym typeface="Times New Roman"/>
              </a:rPr>
              <a:t>Analytics &amp; </a:t>
            </a:r>
            <a:r>
              <a:rPr lang="en-US" sz="1850" b="1" dirty="0" smtClean="0">
                <a:latin typeface="+mn-lt"/>
                <a:ea typeface="Times New Roman"/>
                <a:cs typeface="Times New Roman"/>
                <a:sym typeface="Times New Roman"/>
              </a:rPr>
              <a:t>Simulations</a:t>
            </a:r>
            <a:r>
              <a:rPr lang="en-US" sz="1850" dirty="0" smtClean="0">
                <a:latin typeface="+mn-lt"/>
                <a:ea typeface="Times New Roman"/>
                <a:cs typeface="Times New Roman"/>
                <a:sym typeface="Times New Roman"/>
              </a:rPr>
              <a:t> - Include </a:t>
            </a:r>
            <a:r>
              <a:rPr lang="en-US" sz="1850" dirty="0">
                <a:latin typeface="+mn-lt"/>
                <a:ea typeface="Times New Roman"/>
                <a:cs typeface="Times New Roman"/>
                <a:sym typeface="Times New Roman"/>
              </a:rPr>
              <a:t>satellite link budget calculators, orbital simulations, and performance visualization tools.</a:t>
            </a:r>
            <a:endParaRPr sz="185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9" y="884488"/>
            <a:ext cx="7803831" cy="568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7623" y="903499"/>
            <a:ext cx="9416098" cy="5311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6F15AE-F237-840F-302E-8109422FCE2B}"/>
              </a:ext>
            </a:extLst>
          </p:cNvPr>
          <p:cNvSpPr>
            <a:spLocks noGrp="1"/>
          </p:cNvSpPr>
          <p:nvPr>
            <p:ph type="title"/>
          </p:nvPr>
        </p:nvSpPr>
        <p:spPr>
          <a:xfrm>
            <a:off x="767842" y="817723"/>
            <a:ext cx="10515600" cy="1216342"/>
          </a:xfrm>
        </p:spPr>
        <p:txBody>
          <a:bodyPr/>
          <a:lstStyle/>
          <a:p>
            <a:r>
              <a:rPr lang="en-US" dirty="0"/>
              <a:t>IBM SKILLSBUILD PROFILE</a:t>
            </a:r>
            <a:endParaRPr lang="en-IN" dirty="0"/>
          </a:p>
        </p:txBody>
      </p:sp>
      <p:sp>
        <p:nvSpPr>
          <p:cNvPr id="3" name="Text Placeholder 2">
            <a:extLst>
              <a:ext uri="{FF2B5EF4-FFF2-40B4-BE49-F238E27FC236}">
                <a16:creationId xmlns="" xmlns:a16="http://schemas.microsoft.com/office/drawing/2014/main" id="{61DCB416-64DA-0109-C3AF-03610B74BC17}"/>
              </a:ext>
            </a:extLst>
          </p:cNvPr>
          <p:cNvSpPr>
            <a:spLocks noGrp="1"/>
          </p:cNvSpPr>
          <p:nvPr>
            <p:ph type="body" idx="1"/>
          </p:nvPr>
        </p:nvSpPr>
        <p:spPr>
          <a:xfrm>
            <a:off x="1176583" y="5564824"/>
            <a:ext cx="7284511" cy="917000"/>
          </a:xfrm>
        </p:spPr>
        <p:txBody>
          <a:bodyPr>
            <a:normAutofit/>
          </a:bodyPr>
          <a:lstStyle/>
          <a:p>
            <a:r>
              <a:rPr lang="en-IN" sz="2000" dirty="0" smtClean="0">
                <a:latin typeface="+mn-lt"/>
                <a:hlinkClick r:id="rId2"/>
              </a:rPr>
              <a:t>https://skills.yourlearning.ibm.com/profile/preference</a:t>
            </a:r>
            <a:endParaRPr lang="en-IN" sz="2000" dirty="0">
              <a:latin typeface="+mn-l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825" y="2412658"/>
            <a:ext cx="9060164" cy="264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4991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578</Words>
  <Application>Microsoft Office PowerPoint</Application>
  <PresentationFormat>Custom</PresentationFormat>
  <Paragraphs>110</Paragraphs>
  <Slides>20</Slides>
  <Notes>15</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SKILLSBUILD PROFILE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HP</cp:lastModifiedBy>
  <cp:revision>21</cp:revision>
  <dcterms:created xsi:type="dcterms:W3CDTF">2025-07-08T05:06:56Z</dcterms:created>
  <dcterms:modified xsi:type="dcterms:W3CDTF">2026-07-10T13:33:52Z</dcterms:modified>
</cp:coreProperties>
</file>